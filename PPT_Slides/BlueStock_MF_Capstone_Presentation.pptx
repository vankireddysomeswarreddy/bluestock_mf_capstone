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ESWARREDDY VANKIREDDY" userId="8ac1273c8fb9b2ad" providerId="LiveId" clId="{99862B98-97E9-4D65-B002-BBF2FFC00665}"/>
    <pc:docChg chg="custSel modSld">
      <pc:chgData name="SOMESWARREDDY VANKIREDDY" userId="8ac1273c8fb9b2ad" providerId="LiveId" clId="{99862B98-97E9-4D65-B002-BBF2FFC00665}" dt="2026-07-30T11:00:18.844" v="113" actId="20577"/>
      <pc:docMkLst>
        <pc:docMk/>
      </pc:docMkLst>
      <pc:sldChg chg="modSp mod">
        <pc:chgData name="SOMESWARREDDY VANKIREDDY" userId="8ac1273c8fb9b2ad" providerId="LiveId" clId="{99862B98-97E9-4D65-B002-BBF2FFC00665}" dt="2026-07-30T10:58:52.323" v="46" actId="20577"/>
        <pc:sldMkLst>
          <pc:docMk/>
          <pc:sldMk cId="0" sldId="256"/>
        </pc:sldMkLst>
        <pc:spChg chg="mod">
          <ac:chgData name="SOMESWARREDDY VANKIREDDY" userId="8ac1273c8fb9b2ad" providerId="LiveId" clId="{99862B98-97E9-4D65-B002-BBF2FFC00665}" dt="2026-07-30T10:58:52.323" v="46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SOMESWARREDDY VANKIREDDY" userId="8ac1273c8fb9b2ad" providerId="LiveId" clId="{99862B98-97E9-4D65-B002-BBF2FFC00665}" dt="2026-07-30T11:00:18.844" v="113" actId="20577"/>
        <pc:sldMkLst>
          <pc:docMk/>
          <pc:sldMk cId="0" sldId="267"/>
        </pc:sldMkLst>
        <pc:spChg chg="mod">
          <ac:chgData name="SOMESWARREDDY VANKIREDDY" userId="8ac1273c8fb9b2ad" providerId="LiveId" clId="{99862B98-97E9-4D65-B002-BBF2FFC00665}" dt="2026-07-30T11:00:18.844" v="113" actId="20577"/>
          <ac:spMkLst>
            <pc:docMk/>
            <pc:sldMk cId="0" sldId="267"/>
            <ac:spMk id="7" creationId="{00000000-0000-0000-0000-000000000000}"/>
          </ac:spMkLst>
        </pc:spChg>
        <pc:spChg chg="mod">
          <ac:chgData name="SOMESWARREDDY VANKIREDDY" userId="8ac1273c8fb9b2ad" providerId="LiveId" clId="{99862B98-97E9-4D65-B002-BBF2FFC00665}" dt="2026-07-30T10:59:57.759" v="83" actId="20577"/>
          <ac:spMkLst>
            <pc:docMk/>
            <pc:sldMk cId="0" sldId="267"/>
            <ac:spMk id="10" creationId="{00000000-0000-0000-0000-000000000000}"/>
          </ac:spMkLst>
        </pc:spChg>
        <pc:spChg chg="mod">
          <ac:chgData name="SOMESWARREDDY VANKIREDDY" userId="8ac1273c8fb9b2ad" providerId="LiveId" clId="{99862B98-97E9-4D65-B002-BBF2FFC00665}" dt="2026-07-30T10:59:37.894" v="50" actId="20577"/>
          <ac:spMkLst>
            <pc:docMk/>
            <pc:sldMk cId="0" sldId="267"/>
            <ac:spMk id="1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93B"/>
                </a:solidFill>
                <a:latin typeface="Arial"/>
              </a:rPr>
              <a:t>Top 10 Funds by 1-Year Return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1-Year Return (%)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ABSL Small Cap</c:v>
                </c:pt>
                <c:pt idx="1">
                  <c:v>SBI Small Cap Reg</c:v>
                </c:pt>
                <c:pt idx="2">
                  <c:v>Axis Small Cap</c:v>
                </c:pt>
                <c:pt idx="3">
                  <c:v>Nippon Small Cap</c:v>
                </c:pt>
                <c:pt idx="4">
                  <c:v>SBI Small Cap Dir</c:v>
                </c:pt>
                <c:pt idx="5">
                  <c:v>HDFC Mid-Cap Dir</c:v>
                </c:pt>
                <c:pt idx="6">
                  <c:v>DSP Small Cap</c:v>
                </c:pt>
                <c:pt idx="7">
                  <c:v>UTI Flexicap</c:v>
                </c:pt>
                <c:pt idx="8">
                  <c:v>Kotak Emerging</c:v>
                </c:pt>
                <c:pt idx="9">
                  <c:v>ICICI Pru Midcap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24.93</c:v>
                </c:pt>
                <c:pt idx="1">
                  <c:v>24.56</c:v>
                </c:pt>
                <c:pt idx="2">
                  <c:v>21.97</c:v>
                </c:pt>
                <c:pt idx="3">
                  <c:v>21.3</c:v>
                </c:pt>
                <c:pt idx="4">
                  <c:v>20.59</c:v>
                </c:pt>
                <c:pt idx="5">
                  <c:v>19.850000000000001</c:v>
                </c:pt>
                <c:pt idx="6">
                  <c:v>20.12</c:v>
                </c:pt>
                <c:pt idx="7">
                  <c:v>17.45</c:v>
                </c:pt>
                <c:pt idx="8">
                  <c:v>17.12</c:v>
                </c:pt>
                <c:pt idx="9">
                  <c:v>14.02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0F-4735-8B0E-F79EFE973E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987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62D75"/>
          </a:solidFill>
          <a:ln w="12700">
            <a:solidFill>
              <a:srgbClr val="162D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Capstone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5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 &amp; Interactive Dashboard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Vankireddy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Someswarreddy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  |  BlueStock Fintech |  July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292608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26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Schemes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92608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926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87K+ Records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292608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2926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₹81L Cr AUM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Problems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NAV, AUM &amp; SIP data across sources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risk-adjusted comparison platform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cannot track benchmark outperformance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PDF reports — no self-service dashboards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Objectives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automated ETL pipeline from AMFI 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normalised SQLite star schema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Sharpe, Alpha, Beta, VaR metrics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4-page interactive Power BI dashboard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fund recommender &amp; cohort analysis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Datasets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fund_master.csv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051560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051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rows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990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real schemes — AMFI codes, AMC, expense ratio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nav_history.csv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331720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46,000 rows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6791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 Jan 2022–May 2026 anchored to mfapi.in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aum_by_fund_house.csv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611880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611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rows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9593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AUM for 10 fund houses 2022–2025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monthly_sip_inflows.csv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80960" y="1051560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1051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rows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13990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AMFI Monthly Note SIP data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24028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investor_transactions.csv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80960" y="2331720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 rows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6791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SIP/Lumpsum/Redemption for 5,000 investors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benchmark_indices.csv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680960" y="3611880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3611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8,050 rows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9593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NIFTY50, NIFTY100, BSE SmallCap daily closes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ETL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463040" cy="594360"/>
          </a:xfrm>
          <a:prstGeom prst="roundRect">
            <a:avLst>
              <a:gd name="adj" fmla="val 15385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20240" y="1005840"/>
            <a:ext cx="201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463040" cy="23774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CSVs  •  mfapi.in API  •  NSE/BSE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21408" y="1005840"/>
            <a:ext cx="1463040" cy="594360"/>
          </a:xfrm>
          <a:prstGeom prst="roundRect">
            <a:avLst>
              <a:gd name="adj" fmla="val 1538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1408" y="1005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84448" y="1005840"/>
            <a:ext cx="201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21408" y="1737360"/>
            <a:ext cx="1463040" cy="23774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12848" y="182880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Cleaning  •  Forward-fill  •  CAGR / Returns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85616" y="1005840"/>
            <a:ext cx="1463040" cy="59436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5616" y="1005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48656" y="1005840"/>
            <a:ext cx="201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85616" y="1737360"/>
            <a:ext cx="1463040" cy="23774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77056" y="182880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Star Schema  •  5 Tables  •  SQLAlchemy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49824" y="1005840"/>
            <a:ext cx="1463040" cy="594360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9824" y="1005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12864" y="1005840"/>
            <a:ext cx="201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49824" y="1737360"/>
            <a:ext cx="1463040" cy="23774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41264" y="182880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•  Sharpe/Alpha/Beta  •  VaR  •  Cohort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14032" y="1005840"/>
            <a:ext cx="1463040" cy="594360"/>
          </a:xfrm>
          <a:prstGeom prst="roundRect">
            <a:avLst>
              <a:gd name="adj" fmla="val 1538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14032" y="1005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14032" y="1737360"/>
            <a:ext cx="1463040" cy="23774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05472" y="182880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•  4-Page Dashboard  •  Slicers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Pandas  •  NumPy  •  SciPy  •  SQLite  •  SQLAlchemy  •  Power BI  •  Git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15+ Charts Created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NAV Trend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 for all 40 schemes 2022–2026. Kotak Liquid leads at ₹4,200+ NAV.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AUM Growth by AMC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4173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 dominates at ₹12.5L Cr, followed by ICICI Pru and HDFC.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SIP Inflow Trend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7432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climb from ₹11,500 Cr (Jan 2022) to all-time high ₹31,002 Cr (Dec 2025).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Geographic Distribution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7432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&amp; Tamil Nadu lead state-wise SIP. T30 cities: 66.3% of transactions.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03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Investor Demographics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0690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age group dominates (41.1%). Males: 66.5%, Females: 33.5%.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61188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703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Correlation Matrix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40690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cross-fund correlation confirms diversification benefit across categories.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9144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960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Alpha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23160" y="12984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+30.3%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23160" y="1783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 Fund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960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2984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-52.6%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1783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 Direct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9144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960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Expense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12984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20840" y="1783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40 schemes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4688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Scorecard — Top 5 by Composite Score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34640"/>
          <a:ext cx="7315200" cy="2029968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3yr CAGR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Mirae Asset Large Cap - 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Mid-Cap Opportunities - 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Midcap - 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Flexicap - 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Bluechip - 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vs Return — All 40 Funds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868680"/>
          <a:ext cx="841248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4 Interactive Pages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1: Industry 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AUM Growth Trend, AUM by Fund House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05156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51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2: Fund Performance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vs Benchmark, Risk-Return Scatter, Scorecard Table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306324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063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3: Investor Analytics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Types Donut, Amount by State, Slicers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306324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063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4: SIP &amp; Market Trends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5661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+ Nifty50 Dual-axis, Category Heatmap, Top 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709160"/>
            <a:ext cx="8595360" cy="320040"/>
          </a:xfrm>
          <a:prstGeom prst="roundRect">
            <a:avLst>
              <a:gd name="adj" fmla="val 22857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 include interactive slicers: Fund House  •  Category  •  Plan  •  State  •  Date Range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&amp; Risk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VaR &amp; CVaR (95%)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5331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funds: highest VaR at -2.7%/day. Liquid funds: lowest risk with VaR near -0.1%.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987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Rolling Sharpe Ratio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35331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rolling Sharpe for top 5 funds. All funds show improving risk-adjusted returns post-2023.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591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Investor Cohort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72491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cohort avg SIP ₹13,505 vs 2024 cohort ₹10,997. Newer investors commit more per transaction.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3591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SIP Continuity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72491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investors (1,332/1,362) flagged at-risk with avg SIP gap &gt; 35 days. High dropout risk.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307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Fund Recommender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09651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Top 3 funds by Sharpe ratio per risk appetite: Low / Moderate / High.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6576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7307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Sector HHI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409651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Bluechip HHI=0.206 (most concentrated). Diversified funds show HHI &lt; 0.10.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Key Findings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 is India's largest AMC at ₹12.5 Lakh Crore AUM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hit all-time high of ₹31,002 Cr in Dec 2025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Cap: best risk-adjusted return (Sharpe 1.45)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Cap: highest alpha at +30.34% above benchmark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SIP investors have irregular contribution patterns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cities contribute 66.3% of total transaction volume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Recommendations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4023360" cy="1024128"/>
          </a:xfrm>
          <a:prstGeom prst="roundRect">
            <a:avLst>
              <a:gd name="adj" fmla="val 8929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83480" y="137160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371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83480" y="171907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Liquid • Kotak Liquid • ABSL Liquid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423160"/>
            <a:ext cx="4023360" cy="1024128"/>
          </a:xfrm>
          <a:prstGeom prst="roundRect">
            <a:avLst>
              <a:gd name="adj" fmla="val 8929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83480" y="251460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514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286207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 • HDFC Top 100 • ICICI Pru Bluechip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566160"/>
            <a:ext cx="4023360" cy="1024128"/>
          </a:xfrm>
          <a:prstGeom prst="roundRect">
            <a:avLst>
              <a:gd name="adj" fmla="val 8929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365760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400507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Kotak Emerging Equity • ICICI Pru Midcap • SBI Small Cap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 — All Complete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25880" y="914400"/>
            <a:ext cx="7498080" cy="475488"/>
          </a:xfrm>
          <a:prstGeom prst="roundRect">
            <a:avLst>
              <a:gd name="adj" fmla="val 15385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9326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Project Setup + ETL 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116128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data_ingestion.py, live_nav_fetch.py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17904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1790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25880" y="1517904"/>
            <a:ext cx="7498080" cy="475488"/>
          </a:xfrm>
          <a:prstGeom prst="roundRect">
            <a:avLst>
              <a:gd name="adj" fmla="val 15385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1536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 Cleaning + SQLite Database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176479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cleaned CSVs, bluestock_mf.db, schema.sql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21408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2140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25880" y="2121408"/>
            <a:ext cx="7498080" cy="475488"/>
          </a:xfrm>
          <a:prstGeom prst="roundRect">
            <a:avLst>
              <a:gd name="adj" fmla="val 15385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21396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EDA Analysis — 15+ Charts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236829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03_eda_analysis.ipynb, PNG charts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724912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7249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325880" y="2724912"/>
            <a:ext cx="7498080" cy="475488"/>
          </a:xfrm>
          <a:prstGeom prst="roundRect">
            <a:avLst>
              <a:gd name="adj" fmla="val 15385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27432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Performance Analytics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297180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fund_scorecard.csv, alpha_beta.csv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328416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32841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25880" y="3328416"/>
            <a:ext cx="7498080" cy="475488"/>
          </a:xfrm>
          <a:prstGeom prst="roundRect">
            <a:avLst>
              <a:gd name="adj" fmla="val 15385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63040" y="33467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Power BI Dashboard (4 pages)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63040" y="3575304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bluestock_mf_dashboard.pbix, PDF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931920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9319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325880" y="3931920"/>
            <a:ext cx="7498080" cy="475488"/>
          </a:xfrm>
          <a:prstGeom prst="roundRect">
            <a:avLst>
              <a:gd name="adj" fmla="val 15385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3950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Advanced Analytics + Risk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63040" y="417880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var_cvar_report.csv, recommender.py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535424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53542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325880" y="4535424"/>
            <a:ext cx="7498080" cy="475488"/>
          </a:xfrm>
          <a:prstGeom prst="roundRect">
            <a:avLst>
              <a:gd name="adj" fmla="val 15385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63040" y="45537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Final Report + Presentation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63040" y="478231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Final_Report.pdf, Presentation.pptx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162D75"/>
          </a:solidFill>
          <a:ln w="12700">
            <a:solidFill>
              <a:srgbClr val="162D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5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Capstone — Mutual Fund Analytics Platform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62D75"/>
          </a:solidFill>
          <a:ln w="12700">
            <a:solidFill>
              <a:srgbClr val="2D4E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5935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Vankireddysomeswarreddy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/bluestock_mf_capstone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329184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62D75"/>
          </a:solidFill>
          <a:ln w="12700">
            <a:solidFill>
              <a:srgbClr val="2D4E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35935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Vankireddy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Somesarreddy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BlueStock Fintech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329184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62D75"/>
          </a:solidFill>
          <a:ln w="12700">
            <a:solidFill>
              <a:srgbClr val="2D4E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35935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sourced from AMFI India (amfiindia.com) &amp; mfapi.in  •  For educational purposes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1055</Words>
  <Application>Microsoft Office PowerPoint</Application>
  <PresentationFormat>On-screen Show (16:9)</PresentationFormat>
  <Paragraphs>195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Capstone</dc:title>
  <dc:subject>PptxGenJS Presentation</dc:subject>
  <dc:creator>Sadu Anusha</dc:creator>
  <cp:lastModifiedBy>SOMESWARREDDY VANKIREDDY</cp:lastModifiedBy>
  <cp:revision>1</cp:revision>
  <dcterms:created xsi:type="dcterms:W3CDTF">2026-06-10T04:57:00Z</dcterms:created>
  <dcterms:modified xsi:type="dcterms:W3CDTF">2026-07-30T11:04:18Z</dcterms:modified>
</cp:coreProperties>
</file>